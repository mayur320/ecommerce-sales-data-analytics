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5F5F5"/>
                </a:solidFill>
              </a:defRPr>
            </a:pPr>
            <a:r>
              <a:t>E-Commerce Sales</a:t>
            </a:r>
            <a:br/>
            <a:r>
              <a:t>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06324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50AAFF"/>
                </a:solidFill>
              </a:defRPr>
            </a:pPr>
            <a:r>
              <a:t>Data Cleaning • EDA • Visualization • 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977639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B4B9C3"/>
                </a:solidFill>
              </a:defRPr>
            </a:pPr>
            <a:r>
              <a:t>Final Data Analytics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9C3"/>
                </a:solidFill>
              </a:defRPr>
            </a:pPr>
            <a:r>
              <a:t>E-Commerce Sales Data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617720"/>
            <a:ext cx="8503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5F5F5"/>
                </a:solidFill>
              </a:defRPr>
            </a:pPr>
            <a:r>
              <a:t>Presented by: Mayur Rajput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166360"/>
            <a:ext cx="8503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0AAFF"/>
                </a:solidFill>
              </a:defRPr>
            </a:pPr>
            <a:r>
              <a:t>InternNova Internship | Data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669280"/>
            <a:ext cx="8503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4B9C3"/>
                </a:solidFill>
              </a:defRPr>
            </a:pPr>
            <a:r>
              <a:t>Final Week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F5F5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5F5F5"/>
                </a:solidFill>
              </a:defRPr>
            </a:pPr>
            <a:r>
              <a:t>E-commerce businesses generate large amounts of sales data that can be difficult to analyze manually.</a:t>
            </a:r>
          </a:p>
          <a:p>
            <a:pPr>
              <a:spcAft>
                <a:spcPts val="1600"/>
              </a:spcAft>
              <a:defRPr sz="2000">
                <a:solidFill>
                  <a:srgbClr val="F5F5F5"/>
                </a:solidFill>
              </a:defRPr>
            </a:pPr>
            <a:r>
              <a:t>Raw data may contain missing values and duplicate records that affect analysis.</a:t>
            </a:r>
          </a:p>
          <a:p>
            <a:pPr>
              <a:spcAft>
                <a:spcPts val="1600"/>
              </a:spcAft>
              <a:defRPr sz="2000">
                <a:solidFill>
                  <a:srgbClr val="F5F5F5"/>
                </a:solidFill>
              </a:defRPr>
            </a:pPr>
            <a:r>
              <a:t>A clear analytical dashboard is required to understand sales, profit, regions, categories, and customer segments.</a:t>
            </a:r>
          </a:p>
          <a:p>
            <a:pPr>
              <a:spcAft>
                <a:spcPts val="1600"/>
              </a:spcAft>
              <a:defRPr sz="2000">
                <a:solidFill>
                  <a:srgbClr val="F5F5F5"/>
                </a:solidFill>
              </a:defRPr>
            </a:pPr>
            <a:r>
              <a:t>The project converts raw sales data into useful visual insights for better business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9C3"/>
                </a:solidFill>
              </a:defRPr>
            </a:pPr>
            <a:r>
              <a:t>E-Commerce Sales Data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F5F5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5F5F5"/>
                </a:solidFill>
              </a:defRPr>
            </a:pPr>
            <a:r>
              <a:t>Clean and prepare the E-Commerce Sales dataset.</a:t>
            </a:r>
          </a:p>
          <a:p>
            <a:pPr>
              <a:spcAft>
                <a:spcPts val="1600"/>
              </a:spcAft>
              <a:defRPr sz="2000">
                <a:solidFill>
                  <a:srgbClr val="F5F5F5"/>
                </a:solidFill>
              </a:defRPr>
            </a:pPr>
            <a:r>
              <a:t>Perform Exploratory Data Analysis (EDA) using Python.</a:t>
            </a:r>
          </a:p>
          <a:p>
            <a:pPr>
              <a:spcAft>
                <a:spcPts val="1600"/>
              </a:spcAft>
              <a:defRPr sz="2000">
                <a:solidFill>
                  <a:srgbClr val="F5F5F5"/>
                </a:solidFill>
              </a:defRPr>
            </a:pPr>
            <a:r>
              <a:t>Identify sales and profit patterns across categories and regions.</a:t>
            </a:r>
          </a:p>
          <a:p>
            <a:pPr>
              <a:spcAft>
                <a:spcPts val="1600"/>
              </a:spcAft>
              <a:defRPr sz="2000">
                <a:solidFill>
                  <a:srgbClr val="F5F5F5"/>
                </a:solidFill>
              </a:defRPr>
            </a:pPr>
            <a:r>
              <a:t>Create five meaningful data visualizations.</a:t>
            </a:r>
          </a:p>
          <a:p>
            <a:pPr>
              <a:spcAft>
                <a:spcPts val="1600"/>
              </a:spcAft>
              <a:defRPr sz="2000">
                <a:solidFill>
                  <a:srgbClr val="F5F5F5"/>
                </a:solidFill>
              </a:defRPr>
            </a:pPr>
            <a:r>
              <a:t>Develop an interactive Power BI dashboard with KPI cards and slicers.</a:t>
            </a:r>
          </a:p>
          <a:p>
            <a:pPr>
              <a:spcAft>
                <a:spcPts val="1600"/>
              </a:spcAft>
              <a:defRPr sz="2000">
                <a:solidFill>
                  <a:srgbClr val="F5F5F5"/>
                </a:solidFill>
              </a:defRPr>
            </a:pPr>
            <a:r>
              <a:t>Generate business insights and practical recommendations.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9C3"/>
                </a:solidFill>
              </a:defRPr>
            </a:pPr>
            <a:r>
              <a:t>E-Commerce Sales Data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F5F5"/>
                </a:solidFill>
              </a:defRPr>
            </a:pPr>
            <a:r>
              <a:t>Dataset &amp; 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5F5F5"/>
                </a:solidFill>
              </a:defRPr>
            </a:pPr>
            <a:r>
              <a:t>Dataset: E-Commerce Sales Data</a:t>
            </a:r>
          </a:p>
          <a:p>
            <a:pPr>
              <a:spcAft>
                <a:spcPts val="1600"/>
              </a:spcAft>
              <a:defRPr sz="1800">
                <a:solidFill>
                  <a:srgbClr val="F5F5F5"/>
                </a:solidFill>
              </a:defRPr>
            </a:pPr>
            <a:r>
              <a:t>Main fields: Order ID, Order Date, Region, Category, Customer Segment, Payment Method, Units Sold, Unit Price, Discount, Sales, Profit.</a:t>
            </a:r>
          </a:p>
          <a:p>
            <a:pPr>
              <a:spcAft>
                <a:spcPts val="1600"/>
              </a:spcAft>
              <a:defRPr sz="1800">
                <a:solidFill>
                  <a:srgbClr val="F5F5F5"/>
                </a:solidFill>
              </a:defRPr>
            </a:pPr>
            <a:r>
              <a:t>Duplicate records were removed during data cleaning.</a:t>
            </a:r>
          </a:p>
          <a:p>
            <a:pPr>
              <a:spcAft>
                <a:spcPts val="1600"/>
              </a:spcAft>
              <a:defRPr sz="1800">
                <a:solidFill>
                  <a:srgbClr val="F5F5F5"/>
                </a:solidFill>
              </a:defRPr>
            </a:pPr>
            <a:r>
              <a:t>Missing Customer Segment values were handled using a suitable replacement.</a:t>
            </a:r>
          </a:p>
          <a:p>
            <a:pPr>
              <a:spcAft>
                <a:spcPts val="1600"/>
              </a:spcAft>
              <a:defRPr sz="1800">
                <a:solidFill>
                  <a:srgbClr val="F5F5F5"/>
                </a:solidFill>
              </a:defRPr>
            </a:pPr>
            <a:r>
              <a:t>Order Date was converted into a proper date format for time-based analysis.</a:t>
            </a:r>
          </a:p>
          <a:p>
            <a:pPr>
              <a:spcAft>
                <a:spcPts val="1600"/>
              </a:spcAft>
              <a:defRPr sz="1800">
                <a:solidFill>
                  <a:srgbClr val="F5F5F5"/>
                </a:solidFill>
              </a:defRPr>
            </a:pPr>
            <a:r>
              <a:t>The cleaned dataset was used for Python analysis and the Power BI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9C3"/>
                </a:solidFill>
              </a:defRPr>
            </a:pPr>
            <a:r>
              <a:t>E-Commerce Sales Data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F5F5"/>
                </a:solidFill>
              </a:defRPr>
            </a:pPr>
            <a:r>
              <a:t>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5F5F5"/>
                </a:solidFill>
              </a:defRPr>
            </a:pPr>
            <a:r>
              <a:t>Category-wise sales were analyzed to identify high-performing product categories.</a:t>
            </a:r>
          </a:p>
          <a:p>
            <a:pPr>
              <a:spcAft>
                <a:spcPts val="1600"/>
              </a:spcAft>
              <a:defRPr sz="2000">
                <a:solidFill>
                  <a:srgbClr val="F5F5F5"/>
                </a:solidFill>
              </a:defRPr>
            </a:pPr>
            <a:r>
              <a:t>Region-wise sales were compared to understand geographic performance.</a:t>
            </a:r>
          </a:p>
          <a:p>
            <a:pPr>
              <a:spcAft>
                <a:spcPts val="1600"/>
              </a:spcAft>
              <a:defRPr sz="2000">
                <a:solidFill>
                  <a:srgbClr val="F5F5F5"/>
                </a:solidFill>
              </a:defRPr>
            </a:pPr>
            <a:r>
              <a:t>Customer segments were analyzed to understand their contribution to sales.</a:t>
            </a:r>
          </a:p>
          <a:p>
            <a:pPr>
              <a:spcAft>
                <a:spcPts val="1600"/>
              </a:spcAft>
              <a:defRPr sz="2000">
                <a:solidFill>
                  <a:srgbClr val="F5F5F5"/>
                </a:solidFill>
              </a:defRPr>
            </a:pPr>
            <a:r>
              <a:t>Profit by category was examined to identify profitable product groups.</a:t>
            </a:r>
          </a:p>
          <a:p>
            <a:pPr>
              <a:spcAft>
                <a:spcPts val="1600"/>
              </a:spcAft>
              <a:defRPr sz="2000">
                <a:solidFill>
                  <a:srgbClr val="F5F5F5"/>
                </a:solidFill>
              </a:defRPr>
            </a:pPr>
            <a:r>
              <a:t>Correlation analysis was performed on numerical variables such as Units Sold, Unit Price, Discount, Sales, and Profit.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9C3"/>
                </a:solidFill>
              </a:defRPr>
            </a:pPr>
            <a:r>
              <a:t>E-Commerce Sales Data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F5F5"/>
                </a:solidFill>
              </a:defRPr>
            </a:pPr>
            <a:r>
              <a:t>Data 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5F5F5"/>
                </a:solidFill>
              </a:defRPr>
            </a:pPr>
            <a:r>
              <a:t>1. Total Sales by Category</a:t>
            </a:r>
          </a:p>
          <a:p>
            <a:pPr>
              <a:spcAft>
                <a:spcPts val="1600"/>
              </a:spcAft>
              <a:defRPr sz="2200">
                <a:solidFill>
                  <a:srgbClr val="F5F5F5"/>
                </a:solidFill>
              </a:defRPr>
            </a:pPr>
            <a:r>
              <a:t>2. Total Sales by Region</a:t>
            </a:r>
          </a:p>
          <a:p>
            <a:pPr>
              <a:spcAft>
                <a:spcPts val="1600"/>
              </a:spcAft>
              <a:defRPr sz="2200">
                <a:solidFill>
                  <a:srgbClr val="F5F5F5"/>
                </a:solidFill>
              </a:defRPr>
            </a:pPr>
            <a:r>
              <a:t>3. Monthly Sales Trend</a:t>
            </a:r>
          </a:p>
          <a:p>
            <a:pPr>
              <a:spcAft>
                <a:spcPts val="1600"/>
              </a:spcAft>
              <a:defRPr sz="2200">
                <a:solidFill>
                  <a:srgbClr val="F5F5F5"/>
                </a:solidFill>
              </a:defRPr>
            </a:pPr>
            <a:r>
              <a:t>4. Total Profit by Category</a:t>
            </a:r>
          </a:p>
          <a:p>
            <a:pPr>
              <a:spcAft>
                <a:spcPts val="1600"/>
              </a:spcAft>
              <a:defRPr sz="2200">
                <a:solidFill>
                  <a:srgbClr val="F5F5F5"/>
                </a:solidFill>
              </a:defRPr>
            </a:pPr>
            <a:r>
              <a:t>5. Sales vs Profit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9C3"/>
                </a:solidFill>
              </a:defRPr>
            </a:pPr>
            <a:r>
              <a:t>E-Commerce Sales Data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F5F5"/>
                </a:solidFill>
              </a:defRPr>
            </a:pPr>
            <a:r>
              <a:t>Power BI Dashboard</a:t>
            </a:r>
          </a:p>
        </p:txBody>
      </p:sp>
      <p:pic>
        <p:nvPicPr>
          <p:cNvPr id="3" name="Picture 2" descr="39862993-fa11-45b6-a8ff-ec348dae0b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268" y="1143000"/>
            <a:ext cx="9267158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9C3"/>
                </a:solidFill>
              </a:defRPr>
            </a:pPr>
            <a:r>
              <a:t>E-Commerce Sales Data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F5F5"/>
                </a:solidFill>
              </a:defRPr>
            </a:pPr>
            <a:r>
              <a:t>Dashboard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F5F5F5"/>
                </a:solidFill>
              </a:defRPr>
            </a:pPr>
            <a:r>
              <a:t>KPI Cards: Total Sales, Total Profit, and Total Units Sold.</a:t>
            </a:r>
          </a:p>
          <a:p>
            <a:pPr>
              <a:spcAft>
                <a:spcPts val="1600"/>
              </a:spcAft>
              <a:defRPr sz="1900">
                <a:solidFill>
                  <a:srgbClr val="F5F5F5"/>
                </a:solidFill>
              </a:defRPr>
            </a:pPr>
            <a:r>
              <a:t>Charts: Sales by Category, Sales by Region, Monthly Sales Trend, Profit by Category, and Sales vs Profit.</a:t>
            </a:r>
          </a:p>
          <a:p>
            <a:pPr>
              <a:spcAft>
                <a:spcPts val="1600"/>
              </a:spcAft>
              <a:defRPr sz="1900">
                <a:solidFill>
                  <a:srgbClr val="F5F5F5"/>
                </a:solidFill>
              </a:defRPr>
            </a:pPr>
            <a:r>
              <a:t>Slicers: Region and Customer Segment.</a:t>
            </a:r>
          </a:p>
          <a:p>
            <a:pPr>
              <a:spcAft>
                <a:spcPts val="1600"/>
              </a:spcAft>
              <a:defRPr sz="1900">
                <a:solidFill>
                  <a:srgbClr val="F5F5F5"/>
                </a:solidFill>
              </a:defRPr>
            </a:pPr>
            <a:r>
              <a:t>The dashboard provides an interactive and user-friendly view of business performance.</a:t>
            </a:r>
          </a:p>
          <a:p>
            <a:pPr>
              <a:spcAft>
                <a:spcPts val="1600"/>
              </a:spcAft>
              <a:defRPr sz="1900">
                <a:solidFill>
                  <a:srgbClr val="F5F5F5"/>
                </a:solidFill>
              </a:defRPr>
            </a:pPr>
            <a:r>
              <a:t>Users can apply slicers to explore selected regions and customer segments.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9C3"/>
                </a:solidFill>
              </a:defRPr>
            </a:pPr>
            <a:r>
              <a:t>E-Commerce Sales Data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F5F5"/>
                </a:solidFill>
              </a:defRPr>
            </a:pPr>
            <a:r>
              <a:t>Business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5F5F5"/>
                </a:solidFill>
              </a:defRPr>
            </a:pPr>
            <a:r>
              <a:t>Electronics is the strongest category in the dashboard for both sales and profit.</a:t>
            </a:r>
          </a:p>
          <a:p>
            <a:pPr>
              <a:spcAft>
                <a:spcPts val="1600"/>
              </a:spcAft>
              <a:defRPr sz="1800">
                <a:solidFill>
                  <a:srgbClr val="F5F5F5"/>
                </a:solidFill>
              </a:defRPr>
            </a:pPr>
            <a:r>
              <a:t>North region records the highest sales among the shown regions.</a:t>
            </a:r>
          </a:p>
          <a:p>
            <a:pPr>
              <a:spcAft>
                <a:spcPts val="1600"/>
              </a:spcAft>
              <a:defRPr sz="1800">
                <a:solidFill>
                  <a:srgbClr val="F5F5F5"/>
                </a:solidFill>
              </a:defRPr>
            </a:pPr>
            <a:r>
              <a:t>Monthly sales fluctuate throughout the year, with a noticeable peak in August.</a:t>
            </a:r>
          </a:p>
          <a:p>
            <a:pPr>
              <a:spcAft>
                <a:spcPts val="1600"/>
              </a:spcAft>
              <a:defRPr sz="1800">
                <a:solidFill>
                  <a:srgbClr val="F5F5F5"/>
                </a:solidFill>
              </a:defRPr>
            </a:pPr>
            <a:r>
              <a:t>Category-wise profit analysis helps identify products contributing more to profitability.</a:t>
            </a:r>
          </a:p>
          <a:p>
            <a:pPr>
              <a:spcAft>
                <a:spcPts val="1600"/>
              </a:spcAft>
              <a:defRPr sz="1800">
                <a:solidFill>
                  <a:srgbClr val="F5F5F5"/>
                </a:solidFill>
              </a:defRPr>
            </a:pPr>
            <a:r>
              <a:t>Recommendations: focus marketing and inventory on strong categories and improve promotions in weaker regions or segments.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9C3"/>
                </a:solidFill>
              </a:defRPr>
            </a:pPr>
            <a:r>
              <a:t>E-Commerce Sales Data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F5F5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5F5F5"/>
                </a:solidFill>
              </a:defRPr>
            </a:pPr>
            <a:r>
              <a:t>The project successfully transformed raw E-Commerce Sales data into meaningful analytical insights.</a:t>
            </a:r>
          </a:p>
          <a:p>
            <a:pPr>
              <a:spcAft>
                <a:spcPts val="1600"/>
              </a:spcAft>
              <a:defRPr sz="2000">
                <a:solidFill>
                  <a:srgbClr val="F5F5F5"/>
                </a:solidFill>
              </a:defRPr>
            </a:pPr>
            <a:r>
              <a:t>Python was used for data cleaning, EDA, analysis, and visualization.</a:t>
            </a:r>
          </a:p>
          <a:p>
            <a:pPr>
              <a:spcAft>
                <a:spcPts val="1600"/>
              </a:spcAft>
              <a:defRPr sz="2000">
                <a:solidFill>
                  <a:srgbClr val="F5F5F5"/>
                </a:solidFill>
              </a:defRPr>
            </a:pPr>
            <a:r>
              <a:t>Power BI was used to build an interactive dashboard with KPIs, charts, and slicers.</a:t>
            </a:r>
          </a:p>
          <a:p>
            <a:pPr>
              <a:spcAft>
                <a:spcPts val="1600"/>
              </a:spcAft>
              <a:defRPr sz="2000">
                <a:solidFill>
                  <a:srgbClr val="F5F5F5"/>
                </a:solidFill>
              </a:defRPr>
            </a:pPr>
            <a:r>
              <a:t>The final analysis helps understand sales performance, profitability, regional trends, and customer segments.</a:t>
            </a:r>
          </a:p>
          <a:p>
            <a:pPr>
              <a:spcAft>
                <a:spcPts val="1600"/>
              </a:spcAft>
              <a:defRPr sz="2000">
                <a:solidFill>
                  <a:srgbClr val="F5F5F5"/>
                </a:solidFill>
              </a:defRPr>
            </a:pPr>
            <a:r>
              <a:t>The project demonstrates an end-to-end Data Analytics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B9C3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